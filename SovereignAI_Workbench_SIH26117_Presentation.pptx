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6B6D4"/>
                </a:solidFill>
                <a:latin typeface="Consolas"/>
              </a:defRPr>
            </a:pPr>
            <a:r>
              <a:t>SMART INDIA HACKATHON • PROBLEM STATEMENT ID: SIH26117</a:t>
            </a:r>
          </a:p>
          <a:p>
            <a:pPr>
              <a:spcAft>
                <a:spcPts val="1000"/>
              </a:spcAft>
              <a:defRPr sz="4000" b="1">
                <a:solidFill>
                  <a:srgbClr val="F8FAFC"/>
                </a:solidFill>
                <a:latin typeface="Arial"/>
              </a:defRPr>
            </a:pPr>
            <a:r>
              <a:t>SovereignAI Workbench</a:t>
            </a:r>
          </a:p>
          <a:p>
            <a:pPr>
              <a:spcAft>
                <a:spcPts val="2000"/>
              </a:spcAft>
              <a:defRPr sz="1800">
                <a:solidFill>
                  <a:srgbClr val="94A3B8"/>
                </a:solidFill>
                <a:latin typeface="Arial"/>
              </a:defRPr>
            </a:pPr>
            <a:r>
              <a:t>On-Premise, Air-Gapped Industrial AI Platform with Zero Cloud Exfiltration</a:t>
            </a:r>
          </a:p>
          <a:p>
            <a:pPr>
              <a:defRPr sz="1600" i="1">
                <a:solidFill>
                  <a:srgbClr val="10B981"/>
                </a:solidFill>
                <a:latin typeface="Consolas"/>
              </a:defRPr>
            </a:pPr>
            <a:r>
              <a:t>“Own the Data. Own the Models. Own the Execution.”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029200"/>
            <a:ext cx="10332720" cy="10972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64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5166360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DOMAIN: Critical Infrastructure, Defence, PSUs &amp; Industrial Data Sovereignty</a:t>
            </a:r>
          </a:p>
          <a:p>
            <a:pPr>
              <a:defRPr sz="1100">
                <a:solidFill>
                  <a:srgbClr val="67E8F9"/>
                </a:solidFill>
                <a:latin typeface="Consolas"/>
              </a:defRPr>
            </a:pPr>
            <a:r>
              <a:t>TECH: Local Open-Weights LLMs (Llama 3.1 / DeepSeek R1 / Qwen 2.5) • TriForge Router • Local RAG • Python Sandbox • SHA-256 Audit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onsolas"/>
              </a:defRPr>
            </a:pPr>
            <a:r>
              <a:t>SOVEREIGN AI WORKBENCH • SIH26117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Problem Statement: Industrial AI &amp; The Cloud Privacy Crisis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1. Cloud Data Exfiltration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Modern industrial enterprises cannot use OpenAI / Claude / Cloud APIs due to strict data secrecy.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Uploading plant blueprints, SCADA telemetry, and defence SOPs breaches air-gap isolation.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Risk of IP theft, foreign intelligence interception, and national security compromise.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4846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2. Regulatory Mandates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9202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DPDP Act (India), ISO 27001, and Defence Cybersecurity Directives mandate zero data egress.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PSUs, nuclear plants, and refineries must operate completely offline in isolated air-gaps.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No network socket to public DNS or external IP addresses is permitted.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291840" cy="4846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3. Autonomous Risk &amp; Hallucination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9202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Unverified AI outputs can cause catastrophic physical machinery damage if hallucinated.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Lack of sandboxed script execution and human-in-the-loop approval gates in current LLM tools.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Zero traceability or tamper-proof audit trails for safety regulatory inspections.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onsolas"/>
              </a:defRPr>
            </a:pPr>
            <a:r>
              <a:t>SOVEREIGN AI WORKBENCH • SIH26117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Existing Gaps: Why Current Solutions Fail in High-Security Industries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651760"/>
                <a:gridCol w="3017520"/>
                <a:gridCol w="3017520"/>
              </a:tblGrid>
              <a:tr h="9144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67E8F9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67E8F9"/>
                          </a:solidFill>
                        </a:defRPr>
                      </a:pPr>
                      <a:r>
                        <a:t>Examples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67E8F9"/>
                          </a:solidFill>
                        </a:defRPr>
                      </a:pPr>
                      <a:r>
                        <a:t>Critical Limitation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67E8F9"/>
                          </a:solidFill>
                        </a:defRPr>
                      </a:pPr>
                      <a:r>
                        <a:t>SovereignAI Advantage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7E8F9"/>
                          </a:solidFill>
                        </a:defRPr>
                      </a:pPr>
                      <a:r>
                        <a:t>Cloud AI APIs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ChatGPT, Claude 3.5, Azure OpenAI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100% cloud network egress; leaks proprietary blueprints &amp; defence data.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100% Air-Gapped on-premise local inference with 0 cloud dependencies.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7E8F9"/>
                          </a:solidFill>
                        </a:defRPr>
                      </a:pPr>
                      <a:r>
                        <a:t>Generic Local WebUIs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Ollama CLI, OpenWebUI, LM Studio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Just a raw chat prompt. No workflow graph, no approvals, no report deliverables.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Turnkey agentic workflow: RAG + Python Sandbox + HITL + DOCX Reports.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7E8F9"/>
                          </a:solidFill>
                        </a:defRPr>
                      </a:pPr>
                      <a:r>
                        <a:t>Basic RAG Demos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LangChain / LlamaIndex Scripts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Prone to hallucinations; no citation verification; no tamper-proof audit trail.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Multi-document OCR, page citation tracking, and SHA-256 verifiable audit ledger.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7E8F9"/>
                          </a:solidFill>
                        </a:defRPr>
                      </a:pPr>
                      <a:r>
                        <a:t>Legacy SCADA / ERP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SAP, SCADA, Custom Portals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Static rule-based systems; cannot reason over unstructured engineering PDFs.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Multimodal Vision &amp; Reasoning models analyze diagrams, P&amp;IDs, and logs.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onsolas"/>
              </a:defRPr>
            </a:pPr>
            <a:r>
              <a:t>SOVEREIGN AI WORKBENCH • SIH26117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Our Solution: SovereignAI Workbench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🛡️ Air-Gapped Local Inference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• Zero cloud telemetry or external network calls.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Runs open-weight models locally via Ollama / vLLM runtime.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Hardware-aware execution tuned for enterprise workstation GPUs.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⚙️ TriForge Smart Model 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• Intelligent intent &amp; task classification matrix.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Routes to specialized models: DeepSeek R1 (Reasoning), Qwen 2.5 (Coding), Qwen 2 VL (Vision).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Evaluates policy and security risk before dispatching.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🔒 Sandboxed Execution &amp; HITL Approvals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891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• Isolated Python subprocess sandbox for numerical calculations.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Human-in-the-Loop (HITL) gate halts dangerous system modifications.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Operator approves script execution with single-click sign-off.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69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📑 Verifiable Deliverables &amp; SHA-256 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3891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• Generates verified Word (.docx) compliance &amp; approval reports.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Citation verification engine validates claims against local SOPs.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Tamper-evident audit ledger cryptographically logs every 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onsolas"/>
              </a:defRPr>
            </a:pPr>
            <a:r>
              <a:t>SOVEREIGN AI WORKBENCH • SIH26117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Key Features: 8 Architectural Pillars of SovereignAI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4688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1. TriForge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Deterministic routing matrix based on classification &amp; GPU VRAM.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71600"/>
            <a:ext cx="24688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508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2. Local Vector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6596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Confidential embeddings for PDFs, DOCX, XLSX with page citations.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24688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508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3. Multimodal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96596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OCR &amp; diagram analysis for P&amp;ID schematics and scanned sheets.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371600"/>
            <a:ext cx="24688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508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4. Graph Orchestrator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96596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Multi-step agent loop: Planning, Retrieval, Execution, Synthesis.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24688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5. Python Sandbox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2628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Isolated execution zone for pressure, maintenance, &amp; math metrics.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3931920"/>
            <a:ext cx="24688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4069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6. HITL Approval 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52628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Operator sign-off inbox for high-risk actions before execution.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931920"/>
            <a:ext cx="24688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069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7. DOCX Deliverables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52628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Automated creation of signed, verified executive analysis notes.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3931920"/>
            <a:ext cx="24688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4069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8. SHA-256 Audit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452628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Immutable ledger recording model calls, citations, and tool 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onsolas"/>
              </a:defRPr>
            </a:pPr>
            <a:r>
              <a:t>SOVEREIGN AI WORKBENCH • SIH26117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TriForge: Policy-Aware Intelligent Model Routing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Why Specialized Routing?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No Monolithic Compromise: Generalist models are inefficient on local workstation GPUs. TriForge pairs specific tasks with specialized domain models.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Multi-Dimensional Inspection: Evaluates task prompt keywords, modality (Text vs Vision), confidentiality level (Internal vs Restricted), and available GPU VRAM.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Latency &amp; Cost Optimization: Sub-second deterministic routing (&lt;450ms) ensures maximum throughput without cloud API latency.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</a:defRPr>
            </a:pPr>
            <a:r>
              <a:t>• Safety Policy Check: Flags sensitive operations (code execution, file modifications) before allocating GPU resources.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TriForge Routing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200">
                <a:solidFill>
                  <a:srgbClr val="67E8F9"/>
                </a:solidFill>
              </a:defRPr>
            </a:pPr>
            <a:r>
              <a:t>▶ CODING &amp; SCRIPTS → [Qwen 2.5 Coder 7B]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C++, Python, algorithm synthesis, debugging, script automation.</a:t>
            </a:r>
          </a:p>
          <a:p>
            <a:pPr>
              <a:defRPr b="1" sz="1200">
                <a:solidFill>
                  <a:srgbClr val="67E8F9"/>
                </a:solidFill>
              </a:defRPr>
            </a:pPr>
            <a:r>
              <a:t>▶ REASONING &amp; SOPs → [DeepSeek R1 / Llama 3.1 8B]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Industrial compliance, deviation analysis, safety manual reasoning.</a:t>
            </a:r>
          </a:p>
          <a:p>
            <a:pPr>
              <a:defRPr b="1" sz="1200">
                <a:solidFill>
                  <a:srgbClr val="67E8F9"/>
                </a:solidFill>
              </a:defRPr>
            </a:pPr>
            <a:r>
              <a:t>▶ VISION &amp; P&amp;IDs → [Qwen 2 VL 7B]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Scanned drawings, equipment tags, engineering schematics OCR.</a:t>
            </a:r>
          </a:p>
          <a:p>
            <a:pPr>
              <a:defRPr b="1" sz="1200">
                <a:solidFill>
                  <a:srgbClr val="67E8F9"/>
                </a:solidFill>
              </a:defRPr>
            </a:pPr>
            <a:r>
              <a:t>▶ SPREADSHEETS &amp; METRICS → [DeepSeek R1 + Sandbox]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</a:defRPr>
            </a:pPr>
            <a:r>
              <a:t>Excel parsing, predictive maintenance score, pressure delta math.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onsolas"/>
              </a:defRPr>
            </a:pPr>
            <a:r>
              <a:t>SOVEREIGN AI WORKBENCH • SIH26117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System Architecture: End-to-End Air-Gapped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6B6D4"/>
                </a:solidFill>
              </a:defRPr>
            </a:pPr>
            <a:r>
              <a:t>1. Presentation Layer (React 18 / Vite)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Sovereign Command Center UI • TriForge Routing Panel • HITL Approval Inbox • Live Audit Log Explorer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10698480" cy="868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04872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2. Security &amp; Policy Gateway (FastAPI)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Network Sentinel Firewall (Blocks Egress) • Policy Engine • Zero Cloud Guardrails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10698480" cy="868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64992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67E8F9"/>
                </a:solidFill>
              </a:defRPr>
            </a:pPr>
            <a:r>
              <a:t>3. Industrial Orchestration Graph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Task Classifier • Local Vector RAG Index • Verification Engine • DOCX Report Generator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51960"/>
            <a:ext cx="10698480" cy="868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25112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4. Execution &amp; Sandbox Layer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Isolated Python Calculation Sandbox • File Ingestion (PyMuPDF / docx / openpyxl)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80"/>
            <a:ext cx="10698480" cy="868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5. On-Premise AI Model Runtime (Ollama)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Llama 3.1 8B Instruct • DeepSeek R1 8B • Qwen 2.5 Coder 7B • Qwen 2 VL 7B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onsolas"/>
              </a:defRPr>
            </a:pPr>
            <a:r>
              <a:t>SOVEREIGN AI WORKBENCH • SIH26117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How It Works: 6-Step Sovereign Task Execution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Step 1: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Operator submits industrial query or uploads inspection PDF/SOP.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3832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Step 2: Policy &amp; 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0574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TriForge classifies intent, checks security policy, and selects local model.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3832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Step 3: RAG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0574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Confidential vector store retrieves top citations with exact page numbers.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3832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69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Step 4: Real LLM Inference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262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Local open-weights model synthesizes analysis &amp; python script.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931920"/>
            <a:ext cx="33832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069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Step 5: HITL Approval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5262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Operator reviews calculation code in Approval Inbox and signs off.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3931920"/>
            <a:ext cx="33832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4069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Step 6: Verified Deliverable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5262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Sandbox executes code, verifies citations, and produces signed DOCX.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onsolas"/>
              </a:defRPr>
            </a:pPr>
            <a:r>
              <a:t>SOVEREIGN AI WORKBENCH • SIH26117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Multimodal Document Intelligence &amp; Confidential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Zero-Cloud Ingestion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Universal Format Support: Native local extraction for PDF, DOCX, XLSX, TXT, and scanned image records.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High-Speed OCR: PyMuPDF + offline visual parser extracts text from low-quality scans and engineering stamps.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Smart Dynamic Chunking: Preserves table hierarchies, section headings, and page boundaries.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Prioritized Document Indexing: Newly uploaded inspection reports are prioritized over baseline SOP manuals.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Confidential RAG &amp; Citation Guarantee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100% On-Premise Vector Store: Embeddings reside entirely in workstation memory/disk without cloud vector DBs.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Deterministic Grounding: Every answer includes source filename, chunk ID, and page references.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Anti-Hallucination Guardrails: Claims are cross-referenced against SOP citations before deliverable generation.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Session Isolation &amp; Reset: Instant single-click workspace reset clears active document indices for new tasks.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onsolas"/>
              </a:defRPr>
            </a:pPr>
            <a:r>
              <a:t>SOVEREIGN AI WORKBENCH • SIH26117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Security &amp; Sovereignty: Guaranteed Zero Cloud Egress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🔒 Network Sentinel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Monitors outbound network activity. Strictly blocks egress to external AI domains (OpenAI, Anthropic, HuggingFace). EXTERNAL_AI_CALLS = 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🛡️ Deterministic Policy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574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Enforces access rules based on classification (CONFIDENTIAL, RESTRICTED). Requires operator authorization for tool 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📦 Isolated Python Sandbox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Safe calculation environment with execution timeouts, restricted OS syscalls, and memory bounds.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8620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📜 SHA-256 Audit Ledger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4805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Tamper-evident JSONL audit ledger records timestamp, user action, model used, prompt, and output hash.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onsolas"/>
              </a:defRPr>
            </a:pPr>
            <a:r>
              <a:t>SOVEREIGN AI WORKBENCH • SIH26117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Flagship Workflow: Industrial Inspection to Verified DOCX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End-to-End Pressure Safety Compliance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1. Ingestion: Operator uploads 'TriForge_OnePager.pdf' / Inspection log into Sovereign AI Workbench.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2. Query: 'Analyze overpressure deviation against SOP-17, calculate delta %, and draft sign-off note.'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3. Routing &amp; RAG: TriForge routes to DeepSeek R1 &amp; retrieves SOP-17 Sec 4.2 (Ceiling: 120 PSI, Critical: 135 PSI).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4. HITL Approval Gate: Policy Engine flags Python execution as HIGH RISK. Dispatches ticket to Approval Inbox.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</a:defRPr>
            </a:pPr>
            <a:r>
              <a:t>5. Operator Sign-Off: Industrial Operator reviews formula (P_delta = (142.8 - 120) / 120) and clicks 'APPROVE'.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6. DOCX Generation: Generates official 'Approval_Note.docx' with Executive Summary, Sandbox Output &amp; Citations.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onsolas"/>
              </a:defRPr>
            </a:pPr>
            <a:r>
              <a:t>SOVEREIGN AI WORKBENCH • SIH26117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Broad-Spectrum Industrial &amp; Enterprise Use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💻 Software &amp; C++ /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Generates full C++ array code, sorting algorithms, PLC automation scripts, and firmware debug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📊 Predictive Maintenance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574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Parses equipment telemetry spreadsheets (.xlsx) and calculates MTBF and degradation scores.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📐 P&amp;ID &amp; Engineering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Extracts instrumentation tags, valve specs, and flow schematics from scanned blueprints.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8620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🛡️ Defence &amp; PSU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4805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Instant search, summarization, and audit cross-referencing across confidential manuals.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onsolas"/>
              </a:defRPr>
            </a:pPr>
            <a:r>
              <a:t>SOVEREIGN AI WORKBENCH • SIH26117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Technology Stack: Built on Modern, Sovereign Open Source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Frontend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React 18 • Vite • Tailwind CSS • Lucide Icons • Responsive Glassmorphism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Backend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574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FastAPI (Python 3.11) • Pydantic v2 • Uvicorn • HTTPX Async Client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Local AI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Ollama Local Runtime • Llama 3.1 8B • DeepSeek R1 • Qwen 2.5 Coder • Qwen 2 VL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8620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Ingestion &amp;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4805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PyMuPDF (fitz) • python-docx • openpyxl • NumPy • Subprocess Sandbox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onsolas"/>
              </a:defRPr>
            </a:pPr>
            <a:r>
              <a:t>SOVEREIGN AI WORKBENCH • SIH26117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Key Innovations &amp; Unique Selling Propositions (USPs)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What Sets SovereignAI Workbench Apart?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1. Real Local Inference (No Mocks): Directly integrates with local Ollama open-weights models. Explicit offline alerting with zero fake fallbacks.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2. Policy-Aware TriForge Routing: Deterministically selects the optimal model based on data classification and task domain.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3. Mandatory HITL Safety Gate: Prevents unmonitored code execution and system modifications in critical infrastructure.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4. Turnkey Verified Deliverables: Automatically synthesizes signed Word (.docx) compliance reports with verified citations.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5. Cryptographic SHA-256 Audit Trail: Built specifically for high-assurance defence and PSU compliance verification.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onsolas"/>
              </a:defRPr>
            </a:pPr>
            <a:r>
              <a:t>SOVEREIGN AI WORKBENCH • SIH26117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User Interface &amp; Operator Experience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1. Command Center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Single-pane workbench featuring live Network Sentinel status, VRAM telemetry, and task input launcher.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2. TriForge Model Router Panel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574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Real-time visualization of model selection, risk rating, policy decision, and estimated latency.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3. Agent Activity &amp; State Trace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Multi-step orchestration graph plan showing real-time execution steps and Markdown/code formatting.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8620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4. Operator Approval Inbox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4805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Human-in-the-Loop gate showing proposed Python script, risk level, and Approve/Reject controls.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onsolas"/>
              </a:defRPr>
            </a:pPr>
            <a:r>
              <a:t>SOVEREIGN AI WORKBENCH • SIH26117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Results, Validation &amp; Performance Benchmarks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Empirical Test Results &amp; System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✅ 42+ Automated Test Cases Passed: Verified vector store ingestion, PyMuPDF OCR, RAG ranking, and FastAPI endpoints.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✅ Real Local Inference Verified: Tested live with Llama 3.1 8B on local Ollama server with zero external network socket calls.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✅ C++ / Python Code Generation: Generated complete, runnable C++ array programs with O(N) traversal and sorting.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✅ Accurate Document Summarization: Extracted structured findings from 'TriForge_OnePager.pdf' citing exact parameters.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⚡ High-Speed Local Latency: Sub-second model routing (&lt;450ms) and fast local token generation on standard hardware.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onsolas"/>
              </a:defRPr>
            </a:pPr>
            <a:r>
              <a:t>SOVEREIGN AI WORKBENCH • SIH26117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Scalability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🗄️ Enterprise Vector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Integration with on-premise PostgreSQL + pgvector for multi-million document repositories.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🎯 Domain LoRA Fine-Tuning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574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Lightweight fine-tuning adapters for defence terminology and PSU technical standards.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🏭 Edge Hardware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Containerized deployment on ruggedized industrial edge devices (NVIDIA Jetson AGX).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8620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🤖 Multi-Agent Debate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4805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Autonomous multi-agent consensus loops for mission-critical industrial decision validation.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onsolas"/>
              </a:defRPr>
            </a:pPr>
            <a:r>
              <a:t>SOVEREIGN AI WORKBENCH • SIH26117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Strategic Impact &amp; Business Value Proposition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🏛️ Defence &amp; National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Guarantees complete technological sovereignty with zero risk of cloud foreign surveillance.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⏱️ 90% Time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574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Reduces complex engineering SOP lookup and incident analysis time from 3 hours to under 30 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💰 Zero Cloud API OpEx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Eliminates recurrent per-token subscription costs by utilizing existing on-premise GPU workstations.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8620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7E8F9"/>
                </a:solidFill>
                <a:latin typeface="Arial"/>
              </a:defRPr>
            </a:pPr>
            <a:r>
              <a:t>🛡️ Zero Compliance Liability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4805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</a:defRPr>
            </a:pPr>
            <a:r>
              <a:t>100% compliant with DPDP Act, ISO 27001, and critical infrastructure air-gap mandates.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6B6D4"/>
                </a:solidFill>
                <a:latin typeface="Consolas"/>
              </a:defRPr>
            </a:pPr>
            <a:r>
              <a:t>CONCLUSION &amp; SUMMARY</a:t>
            </a:r>
          </a:p>
          <a:p>
            <a:pPr>
              <a:spcAft>
                <a:spcPts val="1500"/>
              </a:spcAft>
              <a:defRPr sz="3600" b="1">
                <a:solidFill>
                  <a:srgbClr val="F8FAFC"/>
                </a:solidFill>
                <a:latin typeface="Arial"/>
              </a:defRPr>
            </a:pPr>
            <a:r>
              <a:t>SovereignAI Workbench</a:t>
            </a:r>
          </a:p>
          <a:p>
            <a:pPr>
              <a:spcAft>
                <a:spcPts val="800"/>
              </a:spcAft>
              <a:defRPr sz="1500" b="1">
                <a:solidFill>
                  <a:srgbClr val="67E8F9"/>
                </a:solidFill>
                <a:latin typeface="Arial"/>
              </a:defRPr>
            </a:pPr>
            <a:r>
              <a:t>1. OWN THE DATA — Zero cloud exfiltration; files never leave local storage.</a:t>
            </a:r>
          </a:p>
          <a:p>
            <a:pPr>
              <a:spcAft>
                <a:spcPts val="800"/>
              </a:spcAft>
              <a:defRPr sz="1500" b="1">
                <a:solidFill>
                  <a:srgbClr val="67E8F9"/>
                </a:solidFill>
                <a:latin typeface="Arial"/>
              </a:defRPr>
            </a:pPr>
            <a:r>
              <a:t>2. OWN THE MODELS — Full local execution over open-weights models (Ollama).</a:t>
            </a:r>
          </a:p>
          <a:p>
            <a:pPr>
              <a:spcAft>
                <a:spcPts val="800"/>
              </a:spcAft>
              <a:defRPr sz="1500" b="1">
                <a:solidFill>
                  <a:srgbClr val="67E8F9"/>
                </a:solidFill>
                <a:latin typeface="Arial"/>
              </a:defRPr>
            </a:pPr>
            <a:r>
              <a:t>3. OWN THE EXECUTION — Sandboxed calculations, HITL approvals, and signed DOCX deliverables.</a:t>
            </a:r>
          </a:p>
          <a:p>
            <a:pPr>
              <a:defRPr sz="1600" i="1">
                <a:solidFill>
                  <a:srgbClr val="10B981"/>
                </a:solidFill>
                <a:latin typeface="Consolas"/>
              </a:defRPr>
            </a:pPr>
            <a:r>
              <a:t>The Future of Critical Enterprise Industrial AI is 100% Sovereign.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18320" cy="4114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69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8FAFC"/>
                </a:solidFill>
                <a:latin typeface="Arial"/>
              </a:defRPr>
            </a:pPr>
            <a:r>
              <a:t>THANK YOU!</a:t>
            </a:r>
          </a:p>
          <a:p>
            <a:pPr>
              <a:spcAft>
                <a:spcPts val="2000"/>
              </a:spcAft>
              <a:defRPr sz="1600">
                <a:solidFill>
                  <a:srgbClr val="67E8F9"/>
                </a:solidFill>
                <a:latin typeface="Consolas"/>
              </a:defRPr>
            </a:pPr>
            <a:r>
              <a:t>SovereignAI Workbench • Smart India Hackathon (SIH26117)</a:t>
            </a:r>
          </a:p>
          <a:p>
            <a:pPr>
              <a:spcAft>
                <a:spcPts val="1000"/>
              </a:spcAft>
              <a:defRPr sz="1300">
                <a:solidFill>
                  <a:srgbClr val="10B981"/>
                </a:solidFill>
                <a:latin typeface="Consolas"/>
              </a:defRPr>
            </a:pPr>
            <a:r>
              <a:t>GitHub Repository: https://github.com/Sarthak752008/sovereign-ai-workbench</a:t>
            </a:r>
          </a:p>
          <a:p>
            <a:pPr>
              <a:defRPr sz="1800" b="1">
                <a:solidFill>
                  <a:srgbClr val="F8FAFC"/>
                </a:solidFill>
                <a:latin typeface="Arial"/>
              </a:defRPr>
            </a:pPr>
            <a:r>
              <a:t>Ready for Live System Demonstration &amp; Jury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